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0"/>
    <p:restoredTop sz="94692"/>
  </p:normalViewPr>
  <p:slideViewPr>
    <p:cSldViewPr snapToGrid="0">
      <p:cViewPr>
        <p:scale>
          <a:sx n="40" d="100"/>
          <a:sy n="40" d="100"/>
        </p:scale>
        <p:origin x="1600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73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0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3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2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76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01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8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1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7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8C03D-8B50-2A4D-ADCB-33C211D8CC82}" type="datetimeFigureOut">
              <a:rPr lang="en-US" smtClean="0"/>
              <a:t>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B14A3-A81E-EB4E-B884-F24DEE1AF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4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4824-C87D-4A28-96E6-337283CC1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17" y="441730"/>
            <a:ext cx="22916610" cy="1894549"/>
          </a:xfrm>
        </p:spPr>
        <p:txBody>
          <a:bodyPr>
            <a:noAutofit/>
          </a:bodyPr>
          <a:lstStyle/>
          <a:p>
            <a:pPr algn="l"/>
            <a:r>
              <a:rPr lang="en-GB" sz="5400" b="1" u="sng" dirty="0"/>
              <a:t>EV Fleet Evolution and Battery Sustainability: A Data-Driven Insight Framework for Visualization</a:t>
            </a:r>
            <a:endParaRPr lang="en-US" sz="54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A3705-D766-E9E1-66D0-B8143B756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17" y="5308737"/>
            <a:ext cx="8305861" cy="1102354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GB" sz="5400" b="1" dirty="0"/>
              <a:t>Introduction:</a:t>
            </a:r>
          </a:p>
          <a:p>
            <a:pPr algn="l" defTabSz="457200"/>
            <a:r>
              <a:rPr lang="en-GB" sz="5400" dirty="0"/>
              <a:t>Electric vehicles (EVs) are at the forefront of the global shift toward sustainable transportation. This report delves into the evolution of EV fleets and the sustainability of battery materials, using a dataset that spans from 2005 to projections for 2050. The dataset, sourced from Dryad, provides insights into registrations, </a:t>
            </a:r>
            <a:r>
              <a:rPr lang="en-GB" sz="5400" dirty="0" err="1"/>
              <a:t>deregistrations</a:t>
            </a:r>
            <a:r>
              <a:rPr lang="en-GB" sz="5400" dirty="0"/>
              <a:t>, fleet age distribution, and battery material composition. By employing advanced visualization techniques, this report aims to tell a compelling story about the transition to sustainable transportation and the challenges associated with battery recycling.</a:t>
            </a:r>
          </a:p>
          <a:p>
            <a:pPr algn="l"/>
            <a:endParaRPr lang="en-US" sz="5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DE7E81-2AB5-CCFB-58FF-DE2420953F4F}"/>
              </a:ext>
            </a:extLst>
          </p:cNvPr>
          <p:cNvSpPr txBox="1"/>
          <p:nvPr/>
        </p:nvSpPr>
        <p:spPr>
          <a:xfrm>
            <a:off x="10384971" y="25781025"/>
            <a:ext cx="260718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b="1" dirty="0"/>
              <a:t>Reference: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504C4-6BE4-81D8-EE03-93A511703330}"/>
              </a:ext>
            </a:extLst>
          </p:cNvPr>
          <p:cNvSpPr txBox="1"/>
          <p:nvPr/>
        </p:nvSpPr>
        <p:spPr>
          <a:xfrm>
            <a:off x="530317" y="2696453"/>
            <a:ext cx="16020323" cy="1592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5400" b="1" u="sng" dirty="0">
                <a:latin typeface="+mj-lt"/>
                <a:ea typeface="+mj-ea"/>
                <a:cs typeface="+mj-cs"/>
              </a:rPr>
              <a:t>Author: MUHAMMAD KHIZAR MASROOR, Dr. J. C. Roberts</a:t>
            </a:r>
          </a:p>
        </p:txBody>
      </p:sp>
      <p:pic>
        <p:nvPicPr>
          <p:cNvPr id="15" name="Picture 14" descr="A logo of a university&#10;&#10;Description automatically generated">
            <a:extLst>
              <a:ext uri="{FF2B5EF4-FFF2-40B4-BE49-F238E27FC236}">
                <a16:creationId xmlns:a16="http://schemas.microsoft.com/office/drawing/2014/main" id="{5BE83C4E-DADE-B66F-0613-15966907B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3462" y="1828771"/>
            <a:ext cx="2922052" cy="44779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9EB3C5-5B1C-02E9-25FC-02A5F1EA29C9}"/>
              </a:ext>
            </a:extLst>
          </p:cNvPr>
          <p:cNvSpPr txBox="1"/>
          <p:nvPr/>
        </p:nvSpPr>
        <p:spPr>
          <a:xfrm>
            <a:off x="10384971" y="26458133"/>
            <a:ext cx="1037789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dirty="0"/>
              <a:t>J. C. Roberts, C. </a:t>
            </a:r>
            <a:r>
              <a:rPr lang="en-US" sz="3800" dirty="0" err="1"/>
              <a:t>Headleand</a:t>
            </a:r>
            <a:r>
              <a:rPr lang="en-US" sz="3800" dirty="0"/>
              <a:t>, and P. D. </a:t>
            </a:r>
            <a:r>
              <a:rPr lang="en-US" sz="3800" dirty="0" err="1"/>
              <a:t>Ritsos</a:t>
            </a:r>
            <a:r>
              <a:rPr lang="en-US" sz="3800" dirty="0"/>
              <a:t>. Sketching designs using the</a:t>
            </a:r>
          </a:p>
          <a:p>
            <a:r>
              <a:rPr lang="en-US" sz="3800" dirty="0"/>
              <a:t>five design-sheet methodology. IEEE transactions on visualization and</a:t>
            </a:r>
          </a:p>
          <a:p>
            <a:r>
              <a:rPr lang="en-US" sz="3800" dirty="0"/>
              <a:t>computer graphics, 22(1):419–428, 2015.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DEA00-5586-93AA-202C-92D5E69AC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55" y="6536779"/>
            <a:ext cx="10446273" cy="6942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38CFAD-C338-D694-D547-FFCE208AE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55" y="13551768"/>
            <a:ext cx="10446273" cy="35223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D9BDC1-44A4-A50A-0484-69518918D650}"/>
              </a:ext>
            </a:extLst>
          </p:cNvPr>
          <p:cNvSpPr txBox="1"/>
          <p:nvPr/>
        </p:nvSpPr>
        <p:spPr>
          <a:xfrm>
            <a:off x="620757" y="15437113"/>
            <a:ext cx="9171039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800" b="1" dirty="0"/>
              <a:t>Story Highlights:</a:t>
            </a:r>
            <a:endParaRPr lang="en-GB" sz="3800" dirty="0"/>
          </a:p>
          <a:p>
            <a:pPr indent="-571500">
              <a:buFont typeface="Arial" panose="020B0604020202020204" pitchFamily="34" charset="0"/>
              <a:buChar char="•"/>
            </a:pPr>
            <a:r>
              <a:rPr lang="en-GB" sz="3800" dirty="0"/>
              <a:t>The shift from ICE to EV fleets has been significant, with a steady increase in EV registrations since 2005.</a:t>
            </a:r>
          </a:p>
          <a:p>
            <a:pPr indent="-571500">
              <a:buFont typeface="Arial" panose="020B0604020202020204" pitchFamily="34" charset="0"/>
              <a:buChar char="•"/>
            </a:pPr>
            <a:r>
              <a:rPr lang="en-GB" sz="3800" dirty="0"/>
              <a:t>Older fleet vehicles are gradually being replaced, but ICE vehicles still dominate certain age brackets.</a:t>
            </a:r>
          </a:p>
          <a:p>
            <a:pPr indent="-571500">
              <a:buFont typeface="Arial" panose="020B0604020202020204" pitchFamily="34" charset="0"/>
              <a:buChar char="•"/>
            </a:pPr>
            <a:r>
              <a:rPr lang="en-GB" sz="3800" dirty="0"/>
              <a:t>Battery sustainability remains a critical focus, with a notable shift toward materials with better recycling potential.</a:t>
            </a:r>
          </a:p>
          <a:p>
            <a:pPr indent="-571500">
              <a:buFont typeface="Arial" panose="020B0604020202020204" pitchFamily="34" charset="0"/>
              <a:buChar char="•"/>
            </a:pPr>
            <a:r>
              <a:rPr lang="en-GB" sz="3800" dirty="0"/>
              <a:t>Cross-border trade of second-hand EVs and batteries between the US and Mexico provides opportunities for sustainability but also poses challenges in tracking and managing recycling efforts.</a:t>
            </a:r>
          </a:p>
          <a:p>
            <a:endParaRPr lang="en-US" sz="3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A82852-5ADF-3422-F5FE-D2A8726E1198}"/>
              </a:ext>
            </a:extLst>
          </p:cNvPr>
          <p:cNvSpPr txBox="1"/>
          <p:nvPr/>
        </p:nvSpPr>
        <p:spPr>
          <a:xfrm>
            <a:off x="620757" y="25288582"/>
            <a:ext cx="943764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800" b="1" dirty="0"/>
              <a:t>Metadata:</a:t>
            </a:r>
          </a:p>
          <a:p>
            <a:pPr indent="-571500">
              <a:buFont typeface="Arial" panose="020B0604020202020204" pitchFamily="34" charset="0"/>
              <a:buChar char="•"/>
            </a:pPr>
            <a:r>
              <a:rPr lang="en-GB" sz="3800" dirty="0"/>
              <a:t>Source Data: Published on Dryad (September 10, 2024).</a:t>
            </a:r>
          </a:p>
          <a:p>
            <a:pPr indent="-571500">
              <a:buFont typeface="Arial" panose="020B0604020202020204" pitchFamily="34" charset="0"/>
              <a:buChar char="•"/>
            </a:pPr>
            <a:r>
              <a:rPr lang="en-GB" sz="3800" dirty="0"/>
              <a:t>Audience: Policymakers, environmental researchers, and industry experts.</a:t>
            </a:r>
          </a:p>
          <a:p>
            <a:pPr indent="-571500">
              <a:buFont typeface="Arial" panose="020B0604020202020204" pitchFamily="34" charset="0"/>
              <a:buChar char="•"/>
            </a:pPr>
            <a:r>
              <a:rPr lang="en-GB" sz="3800" dirty="0"/>
              <a:t>Tools Used: Python for visualization, including libraries like Matplotlib and </a:t>
            </a:r>
            <a:r>
              <a:rPr lang="en-GB" sz="3800" dirty="0" err="1"/>
              <a:t>Plotly</a:t>
            </a:r>
            <a:r>
              <a:rPr lang="en-GB" sz="38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88330-8538-B639-9A37-7904149ADB9C}"/>
              </a:ext>
            </a:extLst>
          </p:cNvPr>
          <p:cNvSpPr txBox="1"/>
          <p:nvPr/>
        </p:nvSpPr>
        <p:spPr>
          <a:xfrm>
            <a:off x="10400376" y="17501835"/>
            <a:ext cx="9353343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800" b="1" dirty="0"/>
              <a:t>Conclusion:</a:t>
            </a:r>
          </a:p>
          <a:p>
            <a:r>
              <a:rPr lang="en-GB" sz="3800" dirty="0"/>
              <a:t>This demonstrates the power of data visualization in uncovering insights into EV fleet evolution and battery sustainability. The combination of line graphs, bar charts, area charts, and Sankey diagrams provides a comprehensive view of the data, making it accessible to a wide audience. Future work could focus on enhancing interactivity and incorporating real-time data updates to keep the visualizations relevant and impactful.</a:t>
            </a:r>
          </a:p>
        </p:txBody>
      </p:sp>
    </p:spTree>
    <p:extLst>
      <p:ext uri="{BB962C8B-B14F-4D97-AF65-F5344CB8AC3E}">
        <p14:creationId xmlns:p14="http://schemas.microsoft.com/office/powerpoint/2010/main" val="1272251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362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EV Fleet Evolution and Battery Sustainability: A Data-Driven Insight Framework for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dawoodasghar206@gmail.com</dc:creator>
  <cp:lastModifiedBy>khizar masroor</cp:lastModifiedBy>
  <cp:revision>6</cp:revision>
  <dcterms:created xsi:type="dcterms:W3CDTF">2024-12-04T14:37:40Z</dcterms:created>
  <dcterms:modified xsi:type="dcterms:W3CDTF">2025-01-23T09:00:49Z</dcterms:modified>
</cp:coreProperties>
</file>